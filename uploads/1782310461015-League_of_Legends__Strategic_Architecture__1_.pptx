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Light"/>
      <p:regular r:id="rId20"/>
      <p:bold r:id="rId21"/>
      <p:italic r:id="rId22"/>
      <p:boldItalic r:id="rId23"/>
    </p:embeddedFont>
    <p:embeddedFont>
      <p:font typeface="Inter SemiBold"/>
      <p:regular r:id="rId24"/>
      <p:bold r:id="rId25"/>
      <p:italic r:id="rId26"/>
      <p:boldItalic r:id="rId27"/>
    </p:embeddedFont>
    <p:embeddedFont>
      <p:font typeface="Poppins"/>
      <p:regular r:id="rId28"/>
      <p:bold r:id="rId29"/>
      <p:italic r:id="rId30"/>
      <p:boldItalic r:id="rId31"/>
    </p:embeddedFont>
    <p:embeddedFont>
      <p:font typeface="Inter"/>
      <p:regular r:id="rId32"/>
      <p:bold r:id="rId33"/>
      <p:italic r:id="rId34"/>
      <p:boldItalic r:id="rId35"/>
    </p:embeddedFont>
    <p:embeddedFont>
      <p:font typeface="Poppins SemiBol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193214-92C0-4582-9FEE-990EA968D45B}">
  <a:tblStyle styleId="{51193214-92C0-4582-9FEE-990EA968D45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Light-regular.fntdata"/><Relationship Id="rId22" Type="http://schemas.openxmlformats.org/officeDocument/2006/relationships/font" Target="fonts/InterLight-italic.fntdata"/><Relationship Id="rId21" Type="http://schemas.openxmlformats.org/officeDocument/2006/relationships/font" Target="fonts/InterLight-bold.fntdata"/><Relationship Id="rId24" Type="http://schemas.openxmlformats.org/officeDocument/2006/relationships/font" Target="fonts/InterSemiBold-regular.fntdata"/><Relationship Id="rId23" Type="http://schemas.openxmlformats.org/officeDocument/2006/relationships/font" Target="fonts/Inter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italic.fntdata"/><Relationship Id="rId25" Type="http://schemas.openxmlformats.org/officeDocument/2006/relationships/font" Target="fonts/InterSemiBold-bold.fntdata"/><Relationship Id="rId28" Type="http://schemas.openxmlformats.org/officeDocument/2006/relationships/font" Target="fonts/Poppins-regular.fntdata"/><Relationship Id="rId27" Type="http://schemas.openxmlformats.org/officeDocument/2006/relationships/font" Target="fonts/Inter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5.xml"/><Relationship Id="rId33" Type="http://schemas.openxmlformats.org/officeDocument/2006/relationships/font" Target="fonts/Inter-bold.fntdata"/><Relationship Id="rId10" Type="http://schemas.openxmlformats.org/officeDocument/2006/relationships/slide" Target="slides/slide4.xml"/><Relationship Id="rId32" Type="http://schemas.openxmlformats.org/officeDocument/2006/relationships/font" Target="fonts/Inter-regular.fntdata"/><Relationship Id="rId13" Type="http://schemas.openxmlformats.org/officeDocument/2006/relationships/slide" Target="slides/slide7.xml"/><Relationship Id="rId35" Type="http://schemas.openxmlformats.org/officeDocument/2006/relationships/font" Target="fonts/Inter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-italic.fntdata"/><Relationship Id="rId15" Type="http://schemas.openxmlformats.org/officeDocument/2006/relationships/slide" Target="slides/slide9.xml"/><Relationship Id="rId37" Type="http://schemas.openxmlformats.org/officeDocument/2006/relationships/font" Target="fonts/PoppinsSemiBold-bold.fntdata"/><Relationship Id="rId14" Type="http://schemas.openxmlformats.org/officeDocument/2006/relationships/slide" Target="slides/slide8.xml"/><Relationship Id="rId36" Type="http://schemas.openxmlformats.org/officeDocument/2006/relationships/font" Target="fonts/PoppinsSemiBold-regular.fntdata"/><Relationship Id="rId17" Type="http://schemas.openxmlformats.org/officeDocument/2006/relationships/slide" Target="slides/slide11.xml"/><Relationship Id="rId39" Type="http://schemas.openxmlformats.org/officeDocument/2006/relationships/font" Target="fonts/PoppinsSemiBold-boldItalic.fntdata"/><Relationship Id="rId16" Type="http://schemas.openxmlformats.org/officeDocument/2006/relationships/slide" Target="slides/slide10.xml"/><Relationship Id="rId38" Type="http://schemas.openxmlformats.org/officeDocument/2006/relationships/font" Target="fonts/PoppinsSemiBold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2.png"/><Relationship Id="rId13" Type="http://schemas.openxmlformats.org/officeDocument/2006/relationships/image" Target="../media/image10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image" Target="../media/image30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Relationship Id="rId5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image" Target="../media/image31.png"/><Relationship Id="rId6" Type="http://schemas.openxmlformats.org/officeDocument/2006/relationships/image" Target="../media/image27.png"/><Relationship Id="rId7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7775" y="2160389"/>
            <a:ext cx="32575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247775" y="2674739"/>
            <a:ext cx="10681335" cy="1270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League of Legends: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3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Strategic Architecture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247775" y="4088010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Deconstructing the structural components, technical systems, and game mechanics of the ultimate multiplayer competitive arena.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95500"/>
            <a:ext cx="50863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71525" y="2439590"/>
            <a:ext cx="534066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B4D8"/>
                </a:solidFill>
                <a:latin typeface="Poppins"/>
                <a:ea typeface="Poppins"/>
                <a:cs typeface="Poppins"/>
                <a:sym typeface="Poppins"/>
              </a:rPr>
              <a:t>The Core Objective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71525" y="3001565"/>
            <a:ext cx="50863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primary architectural mission of a match centers on absolute base protection and structured force projection.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133475" y="3679626"/>
            <a:ext cx="47244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Team Symmetry: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Two opposing squads of five players operate on a mirrored, balanced battlefield landscape.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133475" y="4281487"/>
            <a:ext cx="47244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Defense Rule: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Each side must shelter their own base core from progressive ingress.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133475" y="4883348"/>
            <a:ext cx="47244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Nexus Termination: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Victory is unlocked strictly upon the full destruction of the opponent's core node—the Nexus.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05025"/>
            <a:ext cx="50673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866775" y="3679626"/>
            <a:ext cx="123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66775" y="4281487"/>
            <a:ext cx="123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66775" y="4883348"/>
            <a:ext cx="123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Defend and Destroy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771525" y="1181100"/>
            <a:ext cx="10648950" cy="19050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419498"/>
            <a:ext cx="2519362" cy="2971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1387" y="2419498"/>
            <a:ext cx="2519362" cy="2971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419498"/>
            <a:ext cx="2519362" cy="2971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01112" y="2419498"/>
            <a:ext cx="2519362" cy="2971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650" y="2714773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009650" y="3476773"/>
            <a:ext cx="21452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1. The Battlefield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009650" y="3876823"/>
            <a:ext cx="2043112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Where we play. The symmetrical arena design containing tactical paths, structural boundaries, and neutral sectors.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19512" y="2714773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3719512" y="3476773"/>
            <a:ext cx="21452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2. The Champions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3719512" y="3876823"/>
            <a:ext cx="2043112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Who we play. Diverse agents possessing specialized statistical scaling modules, roles, and unique ability kits.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29375" y="2714773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6429375" y="3476773"/>
            <a:ext cx="21452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3. The Economy Loop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429375" y="3876823"/>
            <a:ext cx="2043112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How we grow. An engine of micro-objectives driving constant accumulation of gold and character experience.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39237" y="2714773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9139237" y="3476773"/>
            <a:ext cx="21452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4. Major Objectives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139237" y="3876823"/>
            <a:ext cx="2043112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What we conquer. Key neutral targets requiring strategic timing and coordination to achieve victory.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23950" y="2848123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814762" y="2848123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62725" y="2848123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234487" y="2848123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Four Pillars of Gameplay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771525" y="1181100"/>
            <a:ext cx="10648950" cy="19050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95500"/>
            <a:ext cx="50863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771525" y="2439590"/>
            <a:ext cx="534066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B4D8"/>
                </a:solidFill>
                <a:latin typeface="Poppins"/>
                <a:ea typeface="Poppins"/>
                <a:cs typeface="Poppins"/>
                <a:sym typeface="Poppins"/>
              </a:rPr>
              <a:t>Arena Geographic Distribution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71525" y="3001565"/>
            <a:ext cx="50863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battlefield is engineered to compartmentalize conflict zones into predictable tactical lines.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133475" y="3679626"/>
            <a:ext cx="47244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Lanes (Primary Paths):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Three pathways establish the principal movement vectors of the game.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133475" y="4281487"/>
            <a:ext cx="47244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Jungle Divide: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Densely occluded forests sit between paths, housing neutral resource opportunities.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133475" y="4883348"/>
            <a:ext cx="47244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Neutral River: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 central aquatic canyon separates both sides, defining the key contested threshold.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05025"/>
            <a:ext cx="50673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866775" y="3679626"/>
            <a:ext cx="123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66775" y="4281487"/>
            <a:ext cx="123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66775" y="4883348"/>
            <a:ext cx="123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Summoner's Rift Topology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771525" y="1181100"/>
            <a:ext cx="10648950" cy="19050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607171"/>
            <a:ext cx="5086350" cy="25961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07171"/>
            <a:ext cx="5086350" cy="259615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/>
          <p:nvPr/>
        </p:nvSpPr>
        <p:spPr>
          <a:xfrm>
            <a:off x="781050" y="3886200"/>
            <a:ext cx="5067300" cy="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1114425" y="2950071"/>
            <a:ext cx="46205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Poppins"/>
                <a:ea typeface="Poppins"/>
                <a:cs typeface="Poppins"/>
                <a:sym typeface="Poppins"/>
              </a:rPr>
              <a:t>Three Lanes Framework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114425" y="3397746"/>
            <a:ext cx="44005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lanes are designed to split the team's localized responsibilities.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114425" y="3885307"/>
            <a:ext cx="44005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Top Lane remains an isolated island of heavy combat. Mid Lane offers immediate map rotation access. Bottom Lane acts as a high-resource hub requiring synchronized double defense.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6343650" y="3886200"/>
            <a:ext cx="5067300" cy="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6677025" y="2950071"/>
            <a:ext cx="46205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Poppins"/>
                <a:ea typeface="Poppins"/>
                <a:cs typeface="Poppins"/>
                <a:sym typeface="Poppins"/>
              </a:rPr>
              <a:t>Automated Streams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677025" y="3519636"/>
            <a:ext cx="44005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Every lane experiences constant pressure from computer-controlled units called Minions.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677025" y="4129087"/>
            <a:ext cx="44005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These units act as continuous automated siege machines, clashing in predictable waves to define map priority and generate safe resource streams for defending champions.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Lane Management Dynamics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771525" y="1181100"/>
            <a:ext cx="10648950" cy="19050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771525" y="581025"/>
            <a:ext cx="5590698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Jungle &amp; Fog of War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771525" y="1181100"/>
            <a:ext cx="5324475" cy="19050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3" name="Google Shape;17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771525" y="2628155"/>
            <a:ext cx="559069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Unmapped Territory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771525" y="3094880"/>
            <a:ext cx="53244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Jungle is the dangerous sector dividing lanes, hiding critical opportunities in complete mystery.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71525" y="3772941"/>
            <a:ext cx="53244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It remains heavily masked by the Fog of War—a software mechanism hiding map telemetry unless illuminated by champion presence or structural sensors called Wards.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771525" y="4694783"/>
            <a:ext cx="53244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Jungle players navigate this shadows-rich region to claim hidden camps and execute unpredictable flank maneuvers on lane targets.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3" name="Google Shape;183;p19"/>
          <p:cNvGraphicFramePr/>
          <p:nvPr/>
        </p:nvGraphicFramePr>
        <p:xfrm>
          <a:off x="771525" y="24907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{51193214-92C0-4582-9FEE-990EA968D45B}</a:tableStyleId>
              </a:tblPr>
              <a:tblGrid>
                <a:gridCol w="1390650"/>
                <a:gridCol w="1733550"/>
                <a:gridCol w="1847850"/>
                <a:gridCol w="4191000"/>
              </a:tblGrid>
              <a:tr h="4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A623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Tactical 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A623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Position Mapping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A623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Behavioral Trait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A623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Primary Responsibility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527"/>
                    </a:solidFill>
                  </a:tcPr>
                </a:tc>
              </a:tr>
              <a:tr h="4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Top Laner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Top Lane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Resilient Frontline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Absorbs critical damage and initiates front engagements.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Jungler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Jungle Sectors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Mobile / Unpredictable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Roams the map, controls objective areas, and ambushes.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Mid Laner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Mid Lane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Explosive / Agile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Controls the center map and deals massive magical damage.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Bottom Lane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Fragile / High-DPS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Provides persistent, high-damage physical attack output.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Support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Bottom Lane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Protective / Vision 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Preserves team carries, heals, and secures map vision.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" name="Google Shape;184;p19"/>
          <p:cNvSpPr/>
          <p:nvPr/>
        </p:nvSpPr>
        <p:spPr>
          <a:xfrm>
            <a:off x="790575" y="3014662"/>
            <a:ext cx="1390650" cy="9525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2200275" y="3014662"/>
            <a:ext cx="1733550" cy="9525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3952875" y="3014662"/>
            <a:ext cx="1847850" cy="9525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5819775" y="3014662"/>
            <a:ext cx="4191000" cy="9525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790575" y="3471862"/>
            <a:ext cx="1390650" cy="9525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2200275" y="3471862"/>
            <a:ext cx="1733550" cy="9525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3952875" y="3471862"/>
            <a:ext cx="1847850" cy="9525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5819775" y="3471862"/>
            <a:ext cx="4191000" cy="9525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790575" y="3929062"/>
            <a:ext cx="1390650" cy="9525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2200275" y="3929062"/>
            <a:ext cx="1733550" cy="9525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3952875" y="3929062"/>
            <a:ext cx="1847850" cy="9525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5819775" y="3929062"/>
            <a:ext cx="4191000" cy="9525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790575" y="4386262"/>
            <a:ext cx="1390650" cy="9525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2200275" y="4386262"/>
            <a:ext cx="1733550" cy="9525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3952875" y="4386262"/>
            <a:ext cx="1847850" cy="9525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5819775" y="4386262"/>
            <a:ext cx="4191000" cy="9525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790575" y="4843462"/>
            <a:ext cx="1390650" cy="9525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2200275" y="4843462"/>
            <a:ext cx="1733550" cy="9525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3952875" y="4843462"/>
            <a:ext cx="1847850" cy="9525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5819775" y="4843462"/>
            <a:ext cx="4191000" cy="9525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Five Distinct Tactical Roles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771525" y="1181100"/>
            <a:ext cx="10648950" cy="19050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886200"/>
            <a:ext cx="106489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4143375"/>
            <a:ext cx="2449115" cy="1234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04753" y="2259806"/>
            <a:ext cx="2449115" cy="1407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7982" y="4143375"/>
            <a:ext cx="2449115" cy="1407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971210" y="2433042"/>
            <a:ext cx="2449115" cy="123408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920323" y="4343400"/>
            <a:ext cx="215151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5A623"/>
                </a:solidFill>
                <a:latin typeface="Poppins"/>
                <a:ea typeface="Poppins"/>
                <a:cs typeface="Poppins"/>
                <a:sym typeface="Poppins"/>
              </a:rPr>
              <a:t>1. Defeat Entities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971550" y="4657725"/>
            <a:ext cx="2049065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Champions kill automated minions, neutral monsters, and enemy player assets to extract raw value.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3653551" y="2459831"/>
            <a:ext cx="215151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B4D8"/>
                </a:solidFill>
                <a:latin typeface="Poppins"/>
                <a:ea typeface="Poppins"/>
                <a:cs typeface="Poppins"/>
                <a:sym typeface="Poppins"/>
              </a:rPr>
              <a:t>2. Accumulate XP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3704778" y="2774156"/>
            <a:ext cx="2049065" cy="692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Secured gold and experience points are allocated dynamically to level up base stats and lock abilities.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386780" y="4343400"/>
            <a:ext cx="215151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5A623"/>
                </a:solidFill>
                <a:latin typeface="Poppins"/>
                <a:ea typeface="Poppins"/>
                <a:cs typeface="Poppins"/>
                <a:sym typeface="Poppins"/>
              </a:rPr>
              <a:t>3. Base Recalls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438007" y="4657725"/>
            <a:ext cx="2049065" cy="692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Players channel temporary teleports back to the spawning Fountain to restore health and safely bank gold.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9120008" y="2633067"/>
            <a:ext cx="215151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B4D8"/>
                </a:solidFill>
                <a:latin typeface="Poppins"/>
                <a:ea typeface="Poppins"/>
                <a:cs typeface="Poppins"/>
                <a:sym typeface="Poppins"/>
              </a:rPr>
              <a:t>4. Gear Purchase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9171235" y="2947392"/>
            <a:ext cx="2049065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Accumulated currency is traded for inventory items, transforming statistical math into game impact.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Economy Optimization Loop</a:t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771525" y="1181100"/>
            <a:ext cx="10648950" cy="19050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1910357" y="381952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060B16"/>
          </a:solidFill>
          <a:ln cap="flat" cmpd="sng" w="381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4643586" y="381952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060B16"/>
          </a:solidFill>
          <a:ln cap="flat" cmpd="sng" w="381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7376814" y="381952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060B16"/>
          </a:solidFill>
          <a:ln cap="flat" cmpd="sng" w="381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10110043" y="381952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060B16"/>
          </a:solidFill>
          <a:ln cap="flat" cmpd="sng" w="381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771525" y="3171825"/>
            <a:ext cx="50863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5A623"/>
                </a:solidFill>
                <a:latin typeface="Poppins"/>
                <a:ea typeface="Poppins"/>
                <a:cs typeface="Poppins"/>
                <a:sym typeface="Poppins"/>
              </a:rPr>
              <a:t>2.5x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771525" y="4410075"/>
            <a:ext cx="5086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B4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LATE-GAME MULTIPLIER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6334125" y="2797671"/>
            <a:ext cx="534066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B4D8"/>
                </a:solidFill>
                <a:latin typeface="Poppins"/>
                <a:ea typeface="Poppins"/>
                <a:cs typeface="Poppins"/>
                <a:sym typeface="Poppins"/>
              </a:rPr>
              <a:t>Linear vs. Exponential Growth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334125" y="3359646"/>
            <a:ext cx="50863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Scaling describes a character's mechanical escalation from fragile starting units to massive end-game engines of destruction.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6334125" y="4037707"/>
            <a:ext cx="50863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By continuously looping through the economy engine, item statistics (such as Critical Strike, Ability Power, and Attack Speed) feed into mathematical formulas, resulting in exponential damage multipliers over time.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Power of Scaling</a:t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771525" y="1181100"/>
            <a:ext cx="10648950" cy="19050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607171"/>
            <a:ext cx="5086350" cy="25961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07171"/>
            <a:ext cx="5086350" cy="2596157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/>
          <p:nvPr/>
        </p:nvSpPr>
        <p:spPr>
          <a:xfrm>
            <a:off x="781050" y="3886200"/>
            <a:ext cx="5067300" cy="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1114425" y="2950071"/>
            <a:ext cx="46205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Poppins"/>
                <a:ea typeface="Poppins"/>
                <a:cs typeface="Poppins"/>
                <a:sym typeface="Poppins"/>
              </a:rPr>
              <a:t>Progressive Defense: Turrets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1114425" y="3397746"/>
            <a:ext cx="44005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Turrets are heavily armed structural nodes guarding each lane sequentially.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1114425" y="3885307"/>
            <a:ext cx="44005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They fire high-potency energy blasts that scale in damage with consecutive strikes. Attacking players must sacrifice incoming allied minion streams to draw turret fire safely and secure structural progress.</a:t>
            </a: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6343650" y="3886200"/>
            <a:ext cx="5067300" cy="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6677025" y="2950071"/>
            <a:ext cx="46205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Poppins"/>
                <a:ea typeface="Poppins"/>
                <a:cs typeface="Poppins"/>
                <a:sym typeface="Poppins"/>
              </a:rPr>
              <a:t>Critical Gatekeepers: Inhibitors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6677025" y="3397746"/>
            <a:ext cx="44005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Inhibitors are the ultimate lane anchors located inside the base boundary walls.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6677025" y="3885307"/>
            <a:ext cx="44005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Destroying an inhibitor temporarily disables the lane's structural shield, triggering the spawn of massive allied "Super Minions" that apply extreme auto-pressure onto the enemy's final core defenses.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Structural Defense Systems</a:t>
            </a:r>
            <a:endParaRPr/>
          </a:p>
        </p:txBody>
      </p:sp>
      <p:sp>
        <p:nvSpPr>
          <p:cNvPr id="258" name="Google Shape;258;p22"/>
          <p:cNvSpPr/>
          <p:nvPr/>
        </p:nvSpPr>
        <p:spPr>
          <a:xfrm>
            <a:off x="771525" y="1181100"/>
            <a:ext cx="10648950" cy="19050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0700" y="2381250"/>
            <a:ext cx="3048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3"/>
          <p:cNvSpPr txBox="1"/>
          <p:nvPr/>
        </p:nvSpPr>
        <p:spPr>
          <a:xfrm>
            <a:off x="6334125" y="2496740"/>
            <a:ext cx="534066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B4D8"/>
                </a:solidFill>
                <a:latin typeface="Poppins"/>
                <a:ea typeface="Poppins"/>
                <a:cs typeface="Poppins"/>
                <a:sym typeface="Poppins"/>
              </a:rPr>
              <a:t>The Decisive Neutral Bosses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6334125" y="3058715"/>
            <a:ext cx="50863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Neutral pits host supreme entities that act as strategic accelerations toward victory.</a:t>
            </a:r>
            <a:endParaRPr/>
          </a:p>
        </p:txBody>
      </p:sp>
      <p:pic>
        <p:nvPicPr>
          <p:cNvPr descr="image.png" id="267" name="Google Shape;26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19275" y="2409825"/>
            <a:ext cx="2990850" cy="29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3"/>
          <p:cNvSpPr txBox="1"/>
          <p:nvPr/>
        </p:nvSpPr>
        <p:spPr>
          <a:xfrm>
            <a:off x="6696075" y="3736776"/>
            <a:ext cx="47244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Elemental Dragons: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Slaying these beasts grants permanent team-wide statistical blessings. Reaching four unlocks a game-altering Dragon Soul.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6696075" y="4582417"/>
            <a:ext cx="47244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Baron Nashor: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supreme beast of Summoner's Rift. It awards a temporary aura that empowers nearby minions, allowing teams to shatter base walls.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6429375" y="3736776"/>
            <a:ext cx="123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6429375" y="4582417"/>
            <a:ext cx="1238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✦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Major Contested Map Objectives</a:t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771525" y="1181100"/>
            <a:ext cx="10648950" cy="19050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8" name="Google Shape;27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28987" y="4431803"/>
            <a:ext cx="5534025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 txBox="1"/>
          <p:nvPr/>
        </p:nvSpPr>
        <p:spPr>
          <a:xfrm>
            <a:off x="2505551" y="1873746"/>
            <a:ext cx="718089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Strategic Synthesis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2762250" y="3045321"/>
            <a:ext cx="6667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Victory in League of Legends is not a matter of pure speed or individual reflexes. It is the ultimate alignment of team synergy, economic scaling, and strict coordinate-based map control.</a:t>
            </a:r>
            <a:endParaRPr/>
          </a:p>
        </p:txBody>
      </p:sp>
      <p:pic>
        <p:nvPicPr>
          <p:cNvPr descr="image.png" id="282" name="Google Shape;28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7137" y="4631828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/>
          <p:nvPr/>
        </p:nvSpPr>
        <p:spPr>
          <a:xfrm>
            <a:off x="771525" y="2043261"/>
            <a:ext cx="10648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771525" y="3026122"/>
            <a:ext cx="10648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771525" y="4008983"/>
            <a:ext cx="10648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771525" y="3016597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771525" y="3016597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771525" y="3999458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771525" y="3999458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771525" y="4982319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771525" y="4982319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7" name="Google Shape;29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9180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 txBox="1"/>
          <p:nvPr/>
        </p:nvSpPr>
        <p:spPr>
          <a:xfrm>
            <a:off x="1866900" y="2186136"/>
            <a:ext cx="9553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https://static.wikia.nocookie.net/leagueoflegends/images/c/cb/Order_Nexus_TwistedTreeline_Render.png/revision/latest/scale-to-width-down/250?cb=20200601161057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1866900" y="2629941"/>
            <a:ext cx="9553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leagueoflegends.fandom.com</a:t>
            </a:r>
            <a:endParaRPr/>
          </a:p>
        </p:txBody>
      </p:sp>
      <p:pic>
        <p:nvPicPr>
          <p:cNvPr descr="image.png" id="300" name="Google Shape;30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2746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5"/>
          <p:cNvSpPr txBox="1"/>
          <p:nvPr/>
        </p:nvSpPr>
        <p:spPr>
          <a:xfrm>
            <a:off x="1866900" y="3168997"/>
            <a:ext cx="9553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https://www.lolvvv.com/_next/image?url=https%3A%2F%2Fwww.lolvvv.com%2Fwp-content%2Fuploads%2F2022%2F07%2Fsummoners-rift.jpg&amp;w=1200&amp;q=75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1866900" y="3612802"/>
            <a:ext cx="9553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www.lolvvv.com</a:t>
            </a:r>
            <a:endParaRPr/>
          </a:p>
        </p:txBody>
      </p:sp>
      <p:pic>
        <p:nvPicPr>
          <p:cNvPr descr="image.png" id="303" name="Google Shape;30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2575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5"/>
          <p:cNvSpPr txBox="1"/>
          <p:nvPr/>
        </p:nvSpPr>
        <p:spPr>
          <a:xfrm>
            <a:off x="1866900" y="4151858"/>
            <a:ext cx="9553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https://preview.redd.it/jungle-path-art-world-of-warcraft-mists-of-pandaria-v0-qof3uh0lbhy51.jpg?width=640&amp;crop=smart&amp;auto=webp&amp;s=43a1a79bc18685804b2ebfbf03f869e42cf49425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1866900" y="4595663"/>
            <a:ext cx="9553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www.reddit.com</a:t>
            </a:r>
            <a:endParaRPr/>
          </a:p>
        </p:txBody>
      </p:sp>
      <p:pic>
        <p:nvPicPr>
          <p:cNvPr descr="image.png" id="306" name="Google Shape;30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51412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5"/>
          <p:cNvSpPr txBox="1"/>
          <p:nvPr/>
        </p:nvSpPr>
        <p:spPr>
          <a:xfrm>
            <a:off x="1866900" y="5134719"/>
            <a:ext cx="9553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https://media.altchar.com/prod/images/gm_featured_image/6df0bec906de-baron-nashor-lol.jpg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1866900" y="5380434"/>
            <a:ext cx="9553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www.altchar.com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771525" y="581025"/>
            <a:ext cx="11181397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310" name="Google Shape;310;p25"/>
          <p:cNvSpPr/>
          <p:nvPr/>
        </p:nvSpPr>
        <p:spPr>
          <a:xfrm>
            <a:off x="771525" y="1181100"/>
            <a:ext cx="10648950" cy="19050"/>
          </a:xfrm>
          <a:prstGeom prst="rect">
            <a:avLst/>
          </a:prstGeom>
          <a:solidFill>
            <a:srgbClr val="101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